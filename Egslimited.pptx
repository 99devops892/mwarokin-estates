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74" d="100"/>
          <a:sy n="74" d="100"/>
        </p:scale>
        <p:origin x="3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8/7/2023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8/7/2023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egslimited.co.ke/services/14.html" TargetMode="External"/><Relationship Id="rId7" Type="http://schemas.openxmlformats.org/officeDocument/2006/relationships/hyperlink" Target="https://egslimited.co.ke/services/socio-economic-surveys-feasibility-studies-and-traffic-surveys.html" TargetMode="External"/><Relationship Id="rId2" Type="http://schemas.openxmlformats.org/officeDocument/2006/relationships/hyperlink" Target="https://egslimited.co.ke/services/22.html" TargetMode="External"/><Relationship Id="rId1" Type="http://schemas.openxmlformats.org/officeDocument/2006/relationships/slideLayout" Target="../slideLayouts/slideLayout2.xml"/><Relationship Id="rId6" Type="http://schemas.openxmlformats.org/officeDocument/2006/relationships/hyperlink" Target="https://egslimited.co.ke/services/environmental-planning-and-management.html" TargetMode="External"/><Relationship Id="rId5" Type="http://schemas.openxmlformats.org/officeDocument/2006/relationships/hyperlink" Target="https://egslimited.co.ke/" TargetMode="External"/><Relationship Id="rId4" Type="http://schemas.openxmlformats.org/officeDocument/2006/relationships/hyperlink" Target="https://egslimited.co.ke/services/sectional-properties-survey-and-registration-of-titles1.html"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416" y="-667468"/>
            <a:ext cx="10070716" cy="7525468"/>
          </a:xfrm>
        </p:spPr>
        <p:txBody>
          <a:bodyPr>
            <a:normAutofit/>
          </a:bodyPr>
          <a:lstStyle/>
          <a:p>
            <a:r>
              <a:rPr lang="en-US" sz="2000" b="1" dirty="0">
                <a:latin typeface="Arial Narrow" panose="020B0606020202030204" pitchFamily="34" charset="0"/>
                <a:ea typeface="Cambria" panose="02040503050406030204" pitchFamily="18" charset="0"/>
              </a:rPr>
              <a:t>Presentation </a:t>
            </a:r>
            <a:r>
              <a:rPr lang="en-US" sz="2000" b="1" dirty="0" smtClean="0">
                <a:latin typeface="Arial Narrow" panose="020B0606020202030204" pitchFamily="34" charset="0"/>
                <a:ea typeface="Cambria" panose="02040503050406030204" pitchFamily="18" charset="0"/>
              </a:rPr>
              <a:t> to </a:t>
            </a:r>
            <a:r>
              <a:rPr lang="en-US" sz="2000" b="1" dirty="0">
                <a:latin typeface="Arial Narrow" panose="020B0606020202030204" pitchFamily="34" charset="0"/>
                <a:ea typeface="Cambria" panose="02040503050406030204" pitchFamily="18" charset="0"/>
              </a:rPr>
              <a:t>the Client: </a:t>
            </a:r>
            <a:r>
              <a:rPr lang="en-US" sz="2000" b="1" dirty="0" smtClean="0">
                <a:latin typeface="Arial Narrow" panose="020B0606020202030204" pitchFamily="34" charset="0"/>
                <a:ea typeface="Cambria" panose="02040503050406030204" pitchFamily="18" charset="0"/>
              </a:rPr>
              <a:t>EGSLIMITED </a:t>
            </a:r>
            <a:br>
              <a:rPr lang="en-US" sz="2000" b="1" dirty="0" smtClean="0">
                <a:latin typeface="Arial Narrow" panose="020B0606020202030204" pitchFamily="34" charset="0"/>
                <a:ea typeface="Cambria" panose="02040503050406030204" pitchFamily="18" charset="0"/>
              </a:rPr>
            </a:br>
            <a:r>
              <a:rPr lang="en-US" sz="2000" b="1" dirty="0">
                <a:latin typeface="Arial Narrow" panose="020B0606020202030204" pitchFamily="34" charset="0"/>
                <a:ea typeface="Cambria" panose="02040503050406030204" pitchFamily="18" charset="0"/>
              </a:rPr>
              <a:t/>
            </a:r>
            <a:br>
              <a:rPr lang="en-US" sz="2000" b="1" dirty="0">
                <a:latin typeface="Arial Narrow" panose="020B0606020202030204" pitchFamily="34" charset="0"/>
                <a:ea typeface="Cambria" panose="02040503050406030204" pitchFamily="18" charset="0"/>
              </a:rPr>
            </a:br>
            <a:r>
              <a:rPr lang="en-US" sz="2000" b="1" dirty="0" err="1" smtClean="0">
                <a:latin typeface="Arial Narrow" panose="020B0606020202030204" pitchFamily="34" charset="0"/>
                <a:ea typeface="Cambria" panose="02040503050406030204" pitchFamily="18" charset="0"/>
              </a:rPr>
              <a:t>Mwarokin</a:t>
            </a:r>
            <a:r>
              <a:rPr lang="en-US" sz="2000" b="1" dirty="0" smtClean="0">
                <a:latin typeface="Arial Narrow" panose="020B0606020202030204" pitchFamily="34" charset="0"/>
                <a:ea typeface="Cambria" panose="02040503050406030204" pitchFamily="18" charset="0"/>
              </a:rPr>
              <a:t> </a:t>
            </a:r>
            <a:r>
              <a:rPr lang="en-US" sz="2000" b="1" dirty="0">
                <a:latin typeface="Arial Narrow" panose="020B0606020202030204" pitchFamily="34" charset="0"/>
                <a:ea typeface="Cambria" panose="02040503050406030204" pitchFamily="18" charset="0"/>
              </a:rPr>
              <a:t>Real Estate </a:t>
            </a:r>
            <a:r>
              <a:rPr lang="en-US" sz="2000" b="1" dirty="0" smtClean="0">
                <a:latin typeface="Arial Narrow" panose="020B0606020202030204" pitchFamily="34" charset="0"/>
                <a:ea typeface="Cambria" panose="02040503050406030204" pitchFamily="18" charset="0"/>
              </a:rPr>
              <a:t>App.</a:t>
            </a:r>
            <a:r>
              <a:rPr lang="en-US" sz="2000" b="1" dirty="0" smtClean="0">
                <a:latin typeface="Arial Narrow" panose="020B0606020202030204" pitchFamily="34" charset="0"/>
                <a:ea typeface="Cambria" panose="02040503050406030204" pitchFamily="18" charset="0"/>
              </a:rPr>
              <a:t/>
            </a:r>
            <a:br>
              <a:rPr lang="en-US" sz="2000" b="1" dirty="0" smtClean="0">
                <a:latin typeface="Arial Narrow" panose="020B0606020202030204" pitchFamily="34" charset="0"/>
                <a:ea typeface="Cambria" panose="02040503050406030204" pitchFamily="18" charset="0"/>
              </a:rPr>
            </a:br>
            <a:r>
              <a:rPr lang="en-US" sz="2000" b="1" dirty="0">
                <a:latin typeface="Arial Narrow" panose="020B0606020202030204" pitchFamily="34" charset="0"/>
                <a:ea typeface="Cambria" panose="02040503050406030204" pitchFamily="18" charset="0"/>
              </a:rPr>
              <a:t/>
            </a:r>
            <a:br>
              <a:rPr lang="en-US" sz="2000" b="1" dirty="0">
                <a:latin typeface="Arial Narrow" panose="020B0606020202030204" pitchFamily="34" charset="0"/>
                <a:ea typeface="Cambria" panose="02040503050406030204" pitchFamily="18" charset="0"/>
              </a:rPr>
            </a:br>
            <a:r>
              <a:rPr lang="en-US" sz="2000" b="1" dirty="0" smtClean="0">
                <a:latin typeface="Arial Narrow" panose="020B0606020202030204" pitchFamily="34" charset="0"/>
                <a:ea typeface="Cambria" panose="02040503050406030204" pitchFamily="18" charset="0"/>
              </a:rPr>
              <a:t>Your </a:t>
            </a:r>
            <a:r>
              <a:rPr lang="en-US" sz="2000" b="1" dirty="0">
                <a:latin typeface="Arial Narrow" panose="020B0606020202030204" pitchFamily="34" charset="0"/>
                <a:ea typeface="Cambria" panose="02040503050406030204" pitchFamily="18" charset="0"/>
              </a:rPr>
              <a:t>Trusted </a:t>
            </a:r>
            <a:r>
              <a:rPr lang="en-US" sz="2000" b="1" dirty="0" smtClean="0">
                <a:latin typeface="Arial Narrow" panose="020B0606020202030204" pitchFamily="34" charset="0"/>
                <a:ea typeface="Cambria" panose="02040503050406030204" pitchFamily="18" charset="0"/>
              </a:rPr>
              <a:t/>
            </a:r>
            <a:br>
              <a:rPr lang="en-US" sz="2000" b="1" dirty="0" smtClean="0">
                <a:latin typeface="Arial Narrow" panose="020B0606020202030204" pitchFamily="34" charset="0"/>
                <a:ea typeface="Cambria" panose="02040503050406030204" pitchFamily="18" charset="0"/>
              </a:rPr>
            </a:br>
            <a:r>
              <a:rPr lang="en-US" sz="2000" b="1" dirty="0" smtClean="0">
                <a:latin typeface="Arial Narrow" panose="020B0606020202030204" pitchFamily="34" charset="0"/>
                <a:ea typeface="Cambria" panose="02040503050406030204" pitchFamily="18" charset="0"/>
              </a:rPr>
              <a:t>Partner </a:t>
            </a:r>
            <a:r>
              <a:rPr lang="en-US" sz="2000" b="1" dirty="0">
                <a:latin typeface="Arial Narrow" panose="020B0606020202030204" pitchFamily="34" charset="0"/>
                <a:ea typeface="Cambria" panose="02040503050406030204" pitchFamily="18" charset="0"/>
              </a:rPr>
              <a:t>for Comprehensive Real Estate Solutions</a:t>
            </a:r>
            <a:r>
              <a:rPr lang="en-US" sz="2000" b="1" dirty="0" smtClean="0">
                <a:latin typeface="Arial Narrow" panose="020B0606020202030204" pitchFamily="34" charset="0"/>
                <a:ea typeface="Cambria" panose="02040503050406030204" pitchFamily="18" charset="0"/>
              </a:rPr>
              <a:t>;</a:t>
            </a:r>
            <a:br>
              <a:rPr lang="en-US" sz="2000" b="1" dirty="0" smtClean="0">
                <a:latin typeface="Arial Narrow" panose="020B0606020202030204" pitchFamily="34" charset="0"/>
                <a:ea typeface="Cambria" panose="02040503050406030204" pitchFamily="18" charset="0"/>
              </a:rPr>
            </a:br>
            <a:r>
              <a:rPr lang="en-US" sz="2000" dirty="0">
                <a:latin typeface="Arial Narrow" panose="020B0606020202030204" pitchFamily="34" charset="0"/>
                <a:ea typeface="Cambria" panose="02040503050406030204" pitchFamily="18" charset="0"/>
              </a:rPr>
              <a:t/>
            </a:r>
            <a:br>
              <a:rPr lang="en-US" sz="2000" dirty="0">
                <a:latin typeface="Arial Narrow" panose="020B0606020202030204" pitchFamily="34" charset="0"/>
                <a:ea typeface="Cambria" panose="02040503050406030204" pitchFamily="18" charset="0"/>
              </a:rPr>
            </a:br>
            <a:r>
              <a:rPr lang="en-US" sz="2000" b="1" dirty="0">
                <a:latin typeface="Arial Narrow" panose="020B0606020202030204" pitchFamily="34" charset="0"/>
                <a:ea typeface="Cambria" panose="02040503050406030204" pitchFamily="18" charset="0"/>
              </a:rPr>
              <a:t>Date: </a:t>
            </a:r>
            <a:r>
              <a:rPr lang="en-US" sz="2000" b="1" dirty="0" smtClean="0">
                <a:latin typeface="Arial Narrow" panose="020B0606020202030204" pitchFamily="34" charset="0"/>
                <a:ea typeface="Cambria" panose="02040503050406030204" pitchFamily="18" charset="0"/>
              </a:rPr>
              <a:t>8th </a:t>
            </a:r>
            <a:r>
              <a:rPr lang="en-US" sz="2000" b="1" dirty="0">
                <a:latin typeface="Arial Narrow" panose="020B0606020202030204" pitchFamily="34" charset="0"/>
                <a:ea typeface="Cambria" panose="02040503050406030204" pitchFamily="18" charset="0"/>
              </a:rPr>
              <a:t>August </a:t>
            </a:r>
            <a:r>
              <a:rPr lang="en-US" sz="2000" b="1" dirty="0" smtClean="0">
                <a:latin typeface="Arial Narrow" panose="020B0606020202030204" pitchFamily="34" charset="0"/>
                <a:ea typeface="Cambria" panose="02040503050406030204" pitchFamily="18" charset="0"/>
              </a:rPr>
              <a:t>2023</a:t>
            </a:r>
            <a:br>
              <a:rPr lang="en-US" sz="2000" b="1" dirty="0" smtClean="0">
                <a:latin typeface="Arial Narrow" panose="020B0606020202030204" pitchFamily="34" charset="0"/>
                <a:ea typeface="Cambria" panose="02040503050406030204" pitchFamily="18" charset="0"/>
              </a:rPr>
            </a:br>
            <a:r>
              <a:rPr lang="en-US" sz="2000" b="1" dirty="0" smtClean="0">
                <a:latin typeface="Arial Narrow" panose="020B0606020202030204" pitchFamily="34" charset="0"/>
                <a:ea typeface="Cambria" panose="02040503050406030204" pitchFamily="18" charset="0"/>
              </a:rPr>
              <a:t/>
            </a:r>
            <a:br>
              <a:rPr lang="en-US" sz="2000" b="1" dirty="0" smtClean="0">
                <a:latin typeface="Arial Narrow" panose="020B0606020202030204" pitchFamily="34" charset="0"/>
                <a:ea typeface="Cambria" panose="02040503050406030204" pitchFamily="18" charset="0"/>
              </a:rPr>
            </a:br>
            <a:r>
              <a:rPr lang="en-US" sz="2000" dirty="0">
                <a:latin typeface="Arial Narrow" panose="020B0606020202030204" pitchFamily="34" charset="0"/>
                <a:ea typeface="Cambria" panose="02040503050406030204" pitchFamily="18" charset="0"/>
              </a:rPr>
              <a:t/>
            </a:r>
            <a:br>
              <a:rPr lang="en-US" sz="2000" dirty="0">
                <a:latin typeface="Arial Narrow" panose="020B0606020202030204" pitchFamily="34" charset="0"/>
                <a:ea typeface="Cambria" panose="02040503050406030204" pitchFamily="18" charset="0"/>
              </a:rPr>
            </a:br>
            <a:r>
              <a:rPr lang="en-US" sz="2000" b="1" dirty="0" smtClean="0">
                <a:latin typeface="Arial Narrow" panose="020B0606020202030204" pitchFamily="34" charset="0"/>
                <a:ea typeface="Cambria" panose="02040503050406030204" pitchFamily="18" charset="0"/>
              </a:rPr>
              <a:t>Happy 8/8/2023</a:t>
            </a:r>
            <a:r>
              <a:rPr lang="en-US" sz="2000" dirty="0">
                <a:latin typeface="Arial Narrow" panose="020B0606020202030204" pitchFamily="34" charset="0"/>
                <a:ea typeface="Cambria" panose="02040503050406030204" pitchFamily="18" charset="0"/>
              </a:rPr>
              <a:t/>
            </a:r>
            <a:br>
              <a:rPr lang="en-US" sz="2000" dirty="0">
                <a:latin typeface="Arial Narrow" panose="020B0606020202030204" pitchFamily="34" charset="0"/>
                <a:ea typeface="Cambria" panose="02040503050406030204" pitchFamily="18" charset="0"/>
              </a:rPr>
            </a:br>
            <a:r>
              <a:rPr lang="en-US" sz="2000" b="1" dirty="0">
                <a:latin typeface="Arial Narrow" panose="020B0606020202030204" pitchFamily="34" charset="0"/>
                <a:ea typeface="Cambria" panose="02040503050406030204" pitchFamily="18" charset="0"/>
              </a:rPr>
              <a:t> </a:t>
            </a:r>
            <a:r>
              <a:rPr lang="en-US" sz="2000" dirty="0">
                <a:latin typeface="Arial Narrow" panose="020B0606020202030204" pitchFamily="34" charset="0"/>
                <a:ea typeface="Cambria" panose="02040503050406030204" pitchFamily="18" charset="0"/>
              </a:rPr>
              <a:t/>
            </a:r>
            <a:br>
              <a:rPr lang="en-US" sz="2000" dirty="0">
                <a:latin typeface="Arial Narrow" panose="020B0606020202030204" pitchFamily="34" charset="0"/>
                <a:ea typeface="Cambria" panose="02040503050406030204" pitchFamily="18" charset="0"/>
              </a:rPr>
            </a:br>
            <a:r>
              <a:rPr lang="en-US" sz="2000" b="1" dirty="0">
                <a:latin typeface="Arial Narrow" panose="020B0606020202030204" pitchFamily="34" charset="0"/>
                <a:ea typeface="Cambria" panose="02040503050406030204" pitchFamily="18" charset="0"/>
              </a:rPr>
              <a:t>In a world where real estate dynamics are evolving rapidly, we are thrilled to introduce you to the </a:t>
            </a:r>
            <a:r>
              <a:rPr lang="en-US" sz="2000" b="1" dirty="0" err="1">
                <a:latin typeface="Arial Narrow" panose="020B0606020202030204" pitchFamily="34" charset="0"/>
                <a:ea typeface="Cambria" panose="02040503050406030204" pitchFamily="18" charset="0"/>
              </a:rPr>
              <a:t>Mwarokin</a:t>
            </a:r>
            <a:r>
              <a:rPr lang="en-US" sz="2000" b="1" dirty="0">
                <a:latin typeface="Arial Narrow" panose="020B0606020202030204" pitchFamily="34" charset="0"/>
                <a:ea typeface="Cambria" panose="02040503050406030204" pitchFamily="18" charset="0"/>
              </a:rPr>
              <a:t> Real Estate App, your ultimate solution for seamless land survey, renting, leasing, and beyond. </a:t>
            </a:r>
            <a:r>
              <a:rPr lang="en-US" sz="2000" b="1" dirty="0" smtClean="0">
                <a:latin typeface="Arial Narrow" panose="020B0606020202030204" pitchFamily="34" charset="0"/>
                <a:ea typeface="Cambria" panose="02040503050406030204" pitchFamily="18" charset="0"/>
              </a:rPr>
              <a:t/>
            </a:r>
            <a:br>
              <a:rPr lang="en-US" sz="2000" b="1" dirty="0" smtClean="0">
                <a:latin typeface="Arial Narrow" panose="020B0606020202030204" pitchFamily="34" charset="0"/>
                <a:ea typeface="Cambria" panose="02040503050406030204" pitchFamily="18" charset="0"/>
              </a:rPr>
            </a:br>
            <a:r>
              <a:rPr lang="en-US" sz="2000" b="1" dirty="0">
                <a:latin typeface="Arial Narrow" panose="020B0606020202030204" pitchFamily="34" charset="0"/>
                <a:ea typeface="Cambria" panose="02040503050406030204" pitchFamily="18" charset="0"/>
              </a:rPr>
              <a:t/>
            </a:r>
            <a:br>
              <a:rPr lang="en-US" sz="2000" b="1" dirty="0">
                <a:latin typeface="Arial Narrow" panose="020B0606020202030204" pitchFamily="34" charset="0"/>
                <a:ea typeface="Cambria" panose="02040503050406030204" pitchFamily="18" charset="0"/>
              </a:rPr>
            </a:br>
            <a:r>
              <a:rPr lang="en-US" sz="2000" b="1" dirty="0" smtClean="0">
                <a:latin typeface="Arial Narrow" panose="020B0606020202030204" pitchFamily="34" charset="0"/>
                <a:ea typeface="Cambria" panose="02040503050406030204" pitchFamily="18" charset="0"/>
              </a:rPr>
              <a:t>This </a:t>
            </a:r>
            <a:r>
              <a:rPr lang="en-US" sz="2000" b="1" dirty="0">
                <a:latin typeface="Arial Narrow" panose="020B0606020202030204" pitchFamily="34" charset="0"/>
                <a:ea typeface="Cambria" panose="02040503050406030204" pitchFamily="18" charset="0"/>
              </a:rPr>
              <a:t>presentation sheds light on how our app is poised to transform your real estate experience by blending innovative technology with data security measures that ensure your peace of mind.</a:t>
            </a:r>
            <a:r>
              <a:rPr lang="en-US" sz="2000" dirty="0">
                <a:latin typeface="Garamond" panose="02020404030301010803" pitchFamily="18" charset="0"/>
              </a:rPr>
              <a:t/>
            </a:r>
            <a:br>
              <a:rPr lang="en-US" sz="2000" dirty="0">
                <a:latin typeface="Garamond" panose="02020404030301010803" pitchFamily="18" charset="0"/>
              </a:rPr>
            </a:br>
            <a:endParaRPr lang="en-US" sz="2000" dirty="0">
              <a:latin typeface="Garamond" panose="02020404030301010803" pitchFamily="18" charset="0"/>
            </a:endParaRPr>
          </a:p>
        </p:txBody>
      </p:sp>
      <p:pic>
        <p:nvPicPr>
          <p:cNvPr id="6" name="Picture 5"/>
          <p:cNvPicPr>
            <a:picLocks noChangeAspect="1"/>
          </p:cNvPicPr>
          <p:nvPr/>
        </p:nvPicPr>
        <p:blipFill>
          <a:blip r:embed="rId2"/>
          <a:stretch>
            <a:fillRect/>
          </a:stretch>
        </p:blipFill>
        <p:spPr>
          <a:xfrm>
            <a:off x="9974519" y="402239"/>
            <a:ext cx="1902117" cy="1847248"/>
          </a:xfrm>
          <a:prstGeom prst="rect">
            <a:avLst/>
          </a:prstGeom>
        </p:spPr>
      </p:pic>
    </p:spTree>
    <p:extLst>
      <p:ext uri="{BB962C8B-B14F-4D97-AF65-F5344CB8AC3E}">
        <p14:creationId xmlns:p14="http://schemas.microsoft.com/office/powerpoint/2010/main" val="212276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4742" y="1090389"/>
            <a:ext cx="9905999" cy="5619504"/>
          </a:xfrm>
        </p:spPr>
        <p:txBody>
          <a:bodyPr>
            <a:normAutofit/>
          </a:bodyPr>
          <a:lstStyle/>
          <a:p>
            <a:pPr lvl="0"/>
            <a:r>
              <a:rPr lang="en-US" sz="2000" b="1" dirty="0">
                <a:latin typeface="Arial Narrow" panose="020B0606020202030204" pitchFamily="34" charset="0"/>
              </a:rPr>
              <a:t>Executive Summary</a:t>
            </a:r>
            <a:endParaRPr lang="en-US" sz="2000" dirty="0">
              <a:latin typeface="Arial Narrow" panose="020B0606020202030204" pitchFamily="34" charset="0"/>
            </a:endParaRPr>
          </a:p>
          <a:p>
            <a:endParaRPr lang="en-US" sz="2000" dirty="0">
              <a:latin typeface="Arial Narrow" panose="020B0606020202030204" pitchFamily="34" charset="0"/>
            </a:endParaRPr>
          </a:p>
          <a:p>
            <a:r>
              <a:rPr lang="en-US" sz="2000" b="1" dirty="0">
                <a:latin typeface="Arial Narrow" panose="020B0606020202030204" pitchFamily="34" charset="0"/>
              </a:rPr>
              <a:t>Amidst the pursuit of convenience, precision, and confidentiality, the </a:t>
            </a:r>
            <a:r>
              <a:rPr lang="en-US" sz="2000" b="1" dirty="0" err="1">
                <a:latin typeface="Arial Narrow" panose="020B0606020202030204" pitchFamily="34" charset="0"/>
              </a:rPr>
              <a:t>Mwarokin</a:t>
            </a:r>
            <a:r>
              <a:rPr lang="en-US" sz="2000" b="1" dirty="0">
                <a:latin typeface="Arial Narrow" panose="020B0606020202030204" pitchFamily="34" charset="0"/>
              </a:rPr>
              <a:t> Real Estate App emerges as the definitive choice for individuals and enterprises seeking unparalleled land survey, renting, and leasing services. </a:t>
            </a:r>
            <a:endParaRPr lang="en-US" sz="2000" b="1" dirty="0" smtClean="0">
              <a:latin typeface="Arial Narrow" panose="020B0606020202030204" pitchFamily="34" charset="0"/>
            </a:endParaRPr>
          </a:p>
          <a:p>
            <a:endParaRPr lang="en-US" sz="2000" b="1" dirty="0" smtClean="0">
              <a:latin typeface="Arial Narrow" panose="020B0606020202030204" pitchFamily="34" charset="0"/>
            </a:endParaRPr>
          </a:p>
          <a:p>
            <a:r>
              <a:rPr lang="en-US" sz="2000" b="1" dirty="0" smtClean="0">
                <a:latin typeface="Arial Narrow" panose="020B0606020202030204" pitchFamily="34" charset="0"/>
              </a:rPr>
              <a:t>This </a:t>
            </a:r>
            <a:r>
              <a:rPr lang="en-US" sz="2000" b="1" dirty="0">
                <a:latin typeface="Arial Narrow" panose="020B0606020202030204" pitchFamily="34" charset="0"/>
              </a:rPr>
              <a:t>report underscores our dedication to innovation, user-centered design, and unwavering data security. </a:t>
            </a:r>
            <a:endParaRPr lang="en-US" sz="2000" b="1" dirty="0" smtClean="0">
              <a:latin typeface="Arial Narrow" panose="020B0606020202030204" pitchFamily="34" charset="0"/>
            </a:endParaRPr>
          </a:p>
          <a:p>
            <a:endParaRPr lang="en-US" sz="2000" b="1" dirty="0" smtClean="0">
              <a:latin typeface="Arial Narrow" panose="020B0606020202030204" pitchFamily="34" charset="0"/>
            </a:endParaRPr>
          </a:p>
          <a:p>
            <a:r>
              <a:rPr lang="en-US" sz="2000" b="1" dirty="0" smtClean="0">
                <a:latin typeface="Arial Narrow" panose="020B0606020202030204" pitchFamily="34" charset="0"/>
              </a:rPr>
              <a:t>Our </a:t>
            </a:r>
            <a:r>
              <a:rPr lang="en-US" sz="2000" b="1" dirty="0">
                <a:latin typeface="Arial Narrow" panose="020B0606020202030204" pitchFamily="34" charset="0"/>
              </a:rPr>
              <a:t>commitment to protecting your information, coupled with cutting-edge technology, positions us as the ideal partner for navigating the digital realm of real estate transactions.</a:t>
            </a:r>
            <a:endParaRPr lang="en-US" sz="2000" dirty="0">
              <a:latin typeface="Arial Narrow" panose="020B0606020202030204" pitchFamily="34" charset="0"/>
            </a:endParaRPr>
          </a:p>
          <a:p>
            <a:endParaRPr lang="en-US" dirty="0"/>
          </a:p>
        </p:txBody>
      </p:sp>
      <p:pic>
        <p:nvPicPr>
          <p:cNvPr id="4" name="Picture 3"/>
          <p:cNvPicPr>
            <a:picLocks noChangeAspect="1"/>
          </p:cNvPicPr>
          <p:nvPr/>
        </p:nvPicPr>
        <p:blipFill>
          <a:blip r:embed="rId2"/>
          <a:stretch>
            <a:fillRect/>
          </a:stretch>
        </p:blipFill>
        <p:spPr>
          <a:xfrm>
            <a:off x="9967563" y="344027"/>
            <a:ext cx="1902117" cy="1847248"/>
          </a:xfrm>
          <a:prstGeom prst="rect">
            <a:avLst/>
          </a:prstGeom>
        </p:spPr>
      </p:pic>
    </p:spTree>
    <p:extLst>
      <p:ext uri="{BB962C8B-B14F-4D97-AF65-F5344CB8AC3E}">
        <p14:creationId xmlns:p14="http://schemas.microsoft.com/office/powerpoint/2010/main" val="1390043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099" y="927611"/>
            <a:ext cx="8512935" cy="1478570"/>
          </a:xfrm>
        </p:spPr>
        <p:txBody>
          <a:bodyPr>
            <a:normAutofit fontScale="90000"/>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MWAROKIN </a:t>
            </a:r>
            <a:r>
              <a:rPr lang="en-US" b="1" dirty="0" err="1" smtClean="0"/>
              <a:t>k.p.i</a:t>
            </a:r>
            <a:r>
              <a:rPr lang="en-US" b="1" dirty="0" smtClean="0"/>
              <a:t> Automation :</a:t>
            </a:r>
            <a:br>
              <a:rPr lang="en-US" b="1" dirty="0" smtClean="0"/>
            </a:br>
            <a:r>
              <a:rPr lang="en-US" b="1" dirty="0" smtClean="0"/>
              <a:t/>
            </a:r>
            <a:br>
              <a:rPr lang="en-US" b="1" dirty="0" smtClean="0"/>
            </a:br>
            <a:r>
              <a:rPr lang="en-US" sz="2000" dirty="0" smtClean="0">
                <a:hlinkClick r:id="rId2"/>
              </a:rPr>
              <a:t>Physical </a:t>
            </a:r>
            <a:r>
              <a:rPr lang="en-US" sz="2000" dirty="0">
                <a:hlinkClick r:id="rId2"/>
              </a:rPr>
              <a:t>and/or Land use </a:t>
            </a:r>
            <a:r>
              <a:rPr lang="en-US" sz="2000" dirty="0" smtClean="0">
                <a:hlinkClick r:id="rId2"/>
              </a:rPr>
              <a:t/>
            </a:r>
            <a:br>
              <a:rPr lang="en-US" sz="2000" dirty="0" smtClean="0">
                <a:hlinkClick r:id="rId2"/>
              </a:rPr>
            </a:br>
            <a:r>
              <a:rPr lang="en-US" sz="2000" dirty="0" smtClean="0">
                <a:hlinkClick r:id="rId2"/>
              </a:rPr>
              <a:t>planning</a:t>
            </a:r>
            <a:r>
              <a:rPr lang="en-US" sz="2000" dirty="0" smtClean="0"/>
              <a:t/>
            </a:r>
            <a:br>
              <a:rPr lang="en-US" sz="2000" dirty="0" smtClean="0"/>
            </a:br>
            <a:r>
              <a:rPr lang="en-US" sz="2000" dirty="0"/>
              <a:t/>
            </a:r>
            <a:br>
              <a:rPr lang="en-US" sz="2000" dirty="0"/>
            </a:br>
            <a:r>
              <a:rPr lang="en-US" sz="2000" dirty="0">
                <a:hlinkClick r:id="rId3"/>
              </a:rPr>
              <a:t>Land surveying and </a:t>
            </a:r>
            <a:r>
              <a:rPr lang="en-US" sz="2000" dirty="0" smtClean="0">
                <a:hlinkClick r:id="rId3"/>
              </a:rPr>
              <a:t>mapping</a:t>
            </a:r>
            <a:r>
              <a:rPr lang="en-US" sz="2000" dirty="0" smtClean="0"/>
              <a:t/>
            </a:r>
            <a:br>
              <a:rPr lang="en-US" sz="2000" dirty="0" smtClean="0"/>
            </a:br>
            <a:r>
              <a:rPr lang="en-US" sz="2000" dirty="0"/>
              <a:t/>
            </a:r>
            <a:br>
              <a:rPr lang="en-US" sz="2000" dirty="0"/>
            </a:br>
            <a:r>
              <a:rPr lang="en-US" sz="2000" dirty="0">
                <a:hlinkClick r:id="rId4"/>
              </a:rPr>
              <a:t>Sectional property survey </a:t>
            </a:r>
            <a:r>
              <a:rPr lang="en-US" sz="2000" dirty="0" smtClean="0">
                <a:hlinkClick r:id="rId4"/>
              </a:rPr>
              <a:t>services</a:t>
            </a:r>
            <a:r>
              <a:rPr lang="en-US" sz="2000" dirty="0" smtClean="0"/>
              <a:t/>
            </a:r>
            <a:br>
              <a:rPr lang="en-US" sz="2000" dirty="0" smtClean="0"/>
            </a:br>
            <a:r>
              <a:rPr lang="en-US" sz="2000" dirty="0"/>
              <a:t/>
            </a:r>
            <a:br>
              <a:rPr lang="en-US" sz="2000" dirty="0"/>
            </a:br>
            <a:r>
              <a:rPr lang="en-US" sz="2000" dirty="0">
                <a:hlinkClick r:id="rId5"/>
              </a:rPr>
              <a:t>Informal settlements upgrading </a:t>
            </a:r>
            <a:r>
              <a:rPr lang="en-US" sz="2000" dirty="0" smtClean="0">
                <a:hlinkClick r:id="rId5"/>
              </a:rPr>
              <a:t>services</a:t>
            </a:r>
            <a:r>
              <a:rPr lang="en-US" sz="2000" dirty="0" smtClean="0"/>
              <a:t/>
            </a:r>
            <a:br>
              <a:rPr lang="en-US" sz="2000" dirty="0" smtClean="0"/>
            </a:br>
            <a:r>
              <a:rPr lang="en-US" sz="2000" dirty="0"/>
              <a:t/>
            </a:r>
            <a:br>
              <a:rPr lang="en-US" sz="2000" dirty="0"/>
            </a:br>
            <a:r>
              <a:rPr lang="en-US" sz="2000" dirty="0">
                <a:hlinkClick r:id="rId5"/>
              </a:rPr>
              <a:t>Due </a:t>
            </a:r>
            <a:r>
              <a:rPr lang="en-US" sz="2000" dirty="0" smtClean="0">
                <a:hlinkClick r:id="rId5"/>
              </a:rPr>
              <a:t>diligence </a:t>
            </a:r>
            <a:r>
              <a:rPr lang="en-US" sz="2000" dirty="0">
                <a:hlinkClick r:id="rId5"/>
              </a:rPr>
              <a:t>on </a:t>
            </a:r>
            <a:r>
              <a:rPr lang="en-US" sz="2000" dirty="0" smtClean="0">
                <a:hlinkClick r:id="rId5"/>
              </a:rPr>
              <a:t>properties</a:t>
            </a:r>
            <a:r>
              <a:rPr lang="en-US" sz="2000" dirty="0" smtClean="0"/>
              <a:t/>
            </a:r>
            <a:br>
              <a:rPr lang="en-US" sz="2000" dirty="0" smtClean="0"/>
            </a:br>
            <a:r>
              <a:rPr lang="en-US" sz="2000" dirty="0"/>
              <a:t/>
            </a:r>
            <a:br>
              <a:rPr lang="en-US" sz="2000" dirty="0"/>
            </a:br>
            <a:r>
              <a:rPr lang="en-US" sz="2000" dirty="0">
                <a:hlinkClick r:id="rId6"/>
              </a:rPr>
              <a:t>Environmental Planning and </a:t>
            </a:r>
            <a:r>
              <a:rPr lang="en-US" sz="2000" dirty="0" smtClean="0">
                <a:hlinkClick r:id="rId6"/>
              </a:rPr>
              <a:t>Management</a:t>
            </a:r>
            <a:r>
              <a:rPr lang="en-US" sz="2000" dirty="0" smtClean="0"/>
              <a:t/>
            </a:r>
            <a:br>
              <a:rPr lang="en-US" sz="2000" dirty="0" smtClean="0"/>
            </a:br>
            <a:r>
              <a:rPr lang="en-US" sz="2000" dirty="0"/>
              <a:t/>
            </a:r>
            <a:br>
              <a:rPr lang="en-US" sz="2000" dirty="0"/>
            </a:br>
            <a:r>
              <a:rPr lang="en-US" sz="2000" dirty="0">
                <a:hlinkClick r:id="rId7"/>
              </a:rPr>
              <a:t>Socio-economic surveys &amp; Feasibility </a:t>
            </a:r>
            <a:r>
              <a:rPr lang="en-US" sz="2000" dirty="0" smtClean="0">
                <a:hlinkClick r:id="rId7"/>
              </a:rPr>
              <a:t>studies</a:t>
            </a:r>
            <a:r>
              <a:rPr lang="en-US" sz="2000" dirty="0" smtClean="0"/>
              <a:t/>
            </a:r>
            <a:br>
              <a:rPr lang="en-US" sz="2000" dirty="0" smtClean="0"/>
            </a:br>
            <a:r>
              <a:rPr lang="en-US" sz="2000" dirty="0"/>
              <a:t/>
            </a:r>
            <a:br>
              <a:rPr lang="en-US" sz="2000" dirty="0"/>
            </a:br>
            <a:r>
              <a:rPr lang="en-US" sz="2000" dirty="0">
                <a:hlinkClick r:id="rId5"/>
              </a:rPr>
              <a:t>Geographic information </a:t>
            </a:r>
            <a:r>
              <a:rPr lang="en-US" sz="2000" dirty="0" smtClean="0">
                <a:hlinkClick r:id="rId5"/>
              </a:rPr>
              <a:t>systems</a:t>
            </a:r>
            <a:r>
              <a:rPr lang="en-US" sz="2000" dirty="0" smtClean="0"/>
              <a:t/>
            </a:r>
            <a:br>
              <a:rPr lang="en-US" sz="2000" dirty="0" smtClean="0"/>
            </a:br>
            <a:r>
              <a:rPr lang="en-US" sz="2000" dirty="0"/>
              <a:t/>
            </a:r>
            <a:br>
              <a:rPr lang="en-US" sz="2000" dirty="0"/>
            </a:br>
            <a:r>
              <a:rPr lang="en-US" sz="2000" dirty="0">
                <a:hlinkClick r:id="rId5"/>
              </a:rPr>
              <a:t>Resettlement and social safeguards services</a:t>
            </a:r>
            <a:r>
              <a:rPr lang="en-US" sz="2000" dirty="0"/>
              <a:t/>
            </a:r>
            <a:br>
              <a:rPr lang="en-US" sz="2000" dirty="0"/>
            </a:br>
            <a:r>
              <a:rPr lang="en-US" sz="2000" dirty="0">
                <a:hlinkClick r:id="rId5"/>
              </a:rPr>
              <a:t>Traffic surveys</a:t>
            </a:r>
            <a:r>
              <a:rPr lang="en-US" sz="2000" dirty="0"/>
              <a:t/>
            </a:r>
            <a:br>
              <a:rPr lang="en-US" sz="2000" dirty="0"/>
            </a:br>
            <a:r>
              <a:rPr lang="en-US" sz="2200" dirty="0">
                <a:latin typeface="Arial Narrow" panose="020B0606020202030204" pitchFamily="34" charset="0"/>
              </a:rPr>
              <a:t/>
            </a:r>
            <a:br>
              <a:rPr lang="en-US" sz="2200" dirty="0">
                <a:latin typeface="Arial Narrow" panose="020B0606020202030204" pitchFamily="34" charset="0"/>
              </a:rPr>
            </a:br>
            <a:r>
              <a:rPr lang="en-US" sz="2200" b="1" dirty="0">
                <a:latin typeface="Arial Narrow" panose="020B0606020202030204" pitchFamily="34" charset="0"/>
              </a:rPr>
              <a:t> </a:t>
            </a:r>
            <a:r>
              <a:rPr lang="en-US" sz="2200" dirty="0">
                <a:latin typeface="Arial Narrow" panose="020B0606020202030204" pitchFamily="34" charset="0"/>
              </a:rPr>
              <a:t/>
            </a:r>
            <a:br>
              <a:rPr lang="en-US" sz="2200" dirty="0">
                <a:latin typeface="Arial Narrow" panose="020B0606020202030204" pitchFamily="34" charset="0"/>
              </a:rPr>
            </a:br>
            <a:r>
              <a:rPr lang="en-US" dirty="0"/>
              <a:t/>
            </a:r>
            <a:br>
              <a:rPr lang="en-US" dirty="0"/>
            </a:br>
            <a:endParaRPr lang="en-US" dirty="0"/>
          </a:p>
        </p:txBody>
      </p:sp>
      <p:pic>
        <p:nvPicPr>
          <p:cNvPr id="4" name="Content Placeholder 3"/>
          <p:cNvPicPr>
            <a:picLocks noGrp="1" noChangeAspect="1"/>
          </p:cNvPicPr>
          <p:nvPr>
            <p:ph idx="1"/>
          </p:nvPr>
        </p:nvPicPr>
        <p:blipFill>
          <a:blip r:embed="rId8"/>
          <a:stretch>
            <a:fillRect/>
          </a:stretch>
        </p:blipFill>
        <p:spPr>
          <a:xfrm>
            <a:off x="9908537" y="434179"/>
            <a:ext cx="1902117" cy="1847248"/>
          </a:xfrm>
          <a:prstGeom prst="rect">
            <a:avLst/>
          </a:prstGeom>
        </p:spPr>
      </p:pic>
    </p:spTree>
    <p:extLst>
      <p:ext uri="{BB962C8B-B14F-4D97-AF65-F5344CB8AC3E}">
        <p14:creationId xmlns:p14="http://schemas.microsoft.com/office/powerpoint/2010/main" val="2410510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61640" y="475504"/>
            <a:ext cx="1902117" cy="1847248"/>
          </a:xfrm>
          <a:prstGeom prst="rect">
            <a:avLst/>
          </a:prstGeom>
        </p:spPr>
      </p:pic>
      <p:sp>
        <p:nvSpPr>
          <p:cNvPr id="3" name="Content Placeholder 2"/>
          <p:cNvSpPr>
            <a:spLocks noGrp="1"/>
          </p:cNvSpPr>
          <p:nvPr>
            <p:ph idx="1"/>
          </p:nvPr>
        </p:nvSpPr>
        <p:spPr>
          <a:xfrm>
            <a:off x="772217" y="678264"/>
            <a:ext cx="9324819" cy="6083144"/>
          </a:xfrm>
        </p:spPr>
        <p:txBody>
          <a:bodyPr>
            <a:normAutofit/>
          </a:bodyPr>
          <a:lstStyle/>
          <a:p>
            <a:pPr marL="0" lvl="0" indent="0">
              <a:buNone/>
            </a:pPr>
            <a:r>
              <a:rPr lang="en-US" b="1" dirty="0" smtClean="0"/>
              <a:t>                                   </a:t>
            </a:r>
            <a:r>
              <a:rPr lang="en-US" b="1" u="sng" dirty="0" smtClean="0"/>
              <a:t>Technological </a:t>
            </a:r>
            <a:r>
              <a:rPr lang="en-US" b="1" u="sng" dirty="0"/>
              <a:t>Innovation</a:t>
            </a:r>
            <a:endParaRPr lang="en-US" u="sng" dirty="0"/>
          </a:p>
          <a:p>
            <a:pPr marL="0" indent="0">
              <a:buNone/>
            </a:pPr>
            <a:endParaRPr lang="en-US" dirty="0"/>
          </a:p>
          <a:p>
            <a:r>
              <a:rPr lang="en-US" b="1" dirty="0"/>
              <a:t>Our app stands at the forefront of technology-driven experiences:</a:t>
            </a:r>
            <a:endParaRPr lang="en-US" dirty="0"/>
          </a:p>
          <a:p>
            <a:r>
              <a:rPr lang="en-US" b="1" dirty="0"/>
              <a:t>Interactive Land Survey: Harness augmented reality and geolocation for virtual land surveys, saving time, resources, and enhancing accuracy.</a:t>
            </a:r>
            <a:endParaRPr lang="en-US" dirty="0"/>
          </a:p>
          <a:p>
            <a:r>
              <a:rPr lang="en-US" b="1" dirty="0"/>
              <a:t>Property Listings: Our extensive property database offers 3D virtual tours, high-resolution images, and comprehensive property information, transforming how you explore potential properties.</a:t>
            </a:r>
            <a:endParaRPr lang="en-US" dirty="0"/>
          </a:p>
          <a:p>
            <a:r>
              <a:rPr lang="en-US" b="1" dirty="0"/>
              <a:t>User-Friendly Interface: The app boasts a seamless, intuitive design, catering to tech-savvy individuals and newcomers alike.</a:t>
            </a:r>
            <a:endParaRPr lang="en-US" dirty="0"/>
          </a:p>
          <a:p>
            <a:endParaRPr lang="en-US" dirty="0"/>
          </a:p>
        </p:txBody>
      </p:sp>
    </p:spTree>
    <p:extLst>
      <p:ext uri="{BB962C8B-B14F-4D97-AF65-F5344CB8AC3E}">
        <p14:creationId xmlns:p14="http://schemas.microsoft.com/office/powerpoint/2010/main" val="2499478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3" y="373486"/>
            <a:ext cx="9264717" cy="6181859"/>
          </a:xfrm>
        </p:spPr>
        <p:txBody>
          <a:bodyPr>
            <a:normAutofit lnSpcReduction="10000"/>
          </a:bodyPr>
          <a:lstStyle/>
          <a:p>
            <a:pPr marL="0" indent="0">
              <a:buNone/>
            </a:pPr>
            <a:r>
              <a:rPr lang="en-US" b="1" dirty="0" smtClean="0"/>
              <a:t>                               </a:t>
            </a:r>
            <a:r>
              <a:rPr lang="en-US" b="1" u="sng" dirty="0" smtClean="0"/>
              <a:t>4</a:t>
            </a:r>
            <a:r>
              <a:rPr lang="en-US" b="1" u="sng" dirty="0"/>
              <a:t>. Data Security </a:t>
            </a:r>
            <a:r>
              <a:rPr lang="en-US" b="1" u="sng" dirty="0" smtClean="0"/>
              <a:t>Measures</a:t>
            </a:r>
            <a:endParaRPr lang="en-US" dirty="0"/>
          </a:p>
          <a:p>
            <a:r>
              <a:rPr lang="en-US" b="1" dirty="0"/>
              <a:t>Your data's safety is our utmost concern, as demonstrated through our meticulous data protection strategies:</a:t>
            </a:r>
            <a:endParaRPr lang="en-US" dirty="0"/>
          </a:p>
          <a:p>
            <a:r>
              <a:rPr lang="en-US" b="1" dirty="0"/>
              <a:t>Virtual Machines (VMs): </a:t>
            </a:r>
            <a:endParaRPr lang="en-US" dirty="0"/>
          </a:p>
          <a:p>
            <a:pPr marL="0" indent="0">
              <a:buNone/>
            </a:pPr>
            <a:r>
              <a:rPr lang="en-US" b="1" dirty="0"/>
              <a:t>We employ VM technology to isolate user sessions, thwarting unauthorized access and minimizing the risk of data breaches.</a:t>
            </a:r>
            <a:endParaRPr lang="en-US" dirty="0"/>
          </a:p>
          <a:p>
            <a:r>
              <a:rPr lang="en-US" b="1" dirty="0"/>
              <a:t>Remote Secure Databases: </a:t>
            </a:r>
            <a:endParaRPr lang="en-US" b="1" dirty="0" smtClean="0"/>
          </a:p>
          <a:p>
            <a:pPr marL="0" indent="0">
              <a:buNone/>
            </a:pPr>
            <a:r>
              <a:rPr lang="en-US" b="1" dirty="0" smtClean="0"/>
              <a:t>From </a:t>
            </a:r>
            <a:r>
              <a:rPr lang="en-US" b="1" dirty="0"/>
              <a:t>end-to-end encryption to multi-factor authentication, your data is fortified in transit and at rest.</a:t>
            </a:r>
            <a:endParaRPr lang="en-US" dirty="0"/>
          </a:p>
          <a:p>
            <a:r>
              <a:rPr lang="en-US" b="1" dirty="0"/>
              <a:t>Regular Security Audits: </a:t>
            </a:r>
            <a:endParaRPr lang="en-US" b="1" dirty="0" smtClean="0"/>
          </a:p>
          <a:p>
            <a:pPr marL="0" indent="0">
              <a:buNone/>
            </a:pPr>
            <a:r>
              <a:rPr lang="en-US" b="1" dirty="0" smtClean="0"/>
              <a:t>We </a:t>
            </a:r>
            <a:r>
              <a:rPr lang="en-US" b="1" dirty="0"/>
              <a:t>adopt a proactive stance with frequent security audits and penetration testing, outsmarting evolving cyber threats.</a:t>
            </a:r>
            <a:endParaRPr lang="en-US" dirty="0"/>
          </a:p>
          <a:p>
            <a:endParaRPr lang="en-US" dirty="0"/>
          </a:p>
        </p:txBody>
      </p:sp>
      <p:pic>
        <p:nvPicPr>
          <p:cNvPr id="4" name="Picture 3"/>
          <p:cNvPicPr>
            <a:picLocks noChangeAspect="1"/>
          </p:cNvPicPr>
          <p:nvPr/>
        </p:nvPicPr>
        <p:blipFill>
          <a:blip r:embed="rId2"/>
          <a:stretch>
            <a:fillRect/>
          </a:stretch>
        </p:blipFill>
        <p:spPr>
          <a:xfrm>
            <a:off x="9961640" y="618518"/>
            <a:ext cx="1902117" cy="1847248"/>
          </a:xfrm>
          <a:prstGeom prst="rect">
            <a:avLst/>
          </a:prstGeom>
        </p:spPr>
      </p:pic>
    </p:spTree>
    <p:extLst>
      <p:ext uri="{BB962C8B-B14F-4D97-AF65-F5344CB8AC3E}">
        <p14:creationId xmlns:p14="http://schemas.microsoft.com/office/powerpoint/2010/main" val="383350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077550" y="367483"/>
            <a:ext cx="1902117" cy="1847248"/>
          </a:xfrm>
          <a:prstGeom prst="rect">
            <a:avLst/>
          </a:prstGeom>
        </p:spPr>
      </p:pic>
      <p:sp>
        <p:nvSpPr>
          <p:cNvPr id="3" name="Content Placeholder 2"/>
          <p:cNvSpPr>
            <a:spLocks noGrp="1"/>
          </p:cNvSpPr>
          <p:nvPr>
            <p:ph idx="1"/>
          </p:nvPr>
        </p:nvSpPr>
        <p:spPr>
          <a:xfrm>
            <a:off x="978627" y="798043"/>
            <a:ext cx="9279227" cy="6059957"/>
          </a:xfrm>
        </p:spPr>
        <p:txBody>
          <a:bodyPr>
            <a:normAutofit/>
          </a:bodyPr>
          <a:lstStyle/>
          <a:p>
            <a:pPr marL="0" indent="0">
              <a:buNone/>
            </a:pPr>
            <a:r>
              <a:rPr lang="en-US" b="1" dirty="0" smtClean="0"/>
              <a:t>                     5</a:t>
            </a:r>
            <a:r>
              <a:rPr lang="en-US" b="1" dirty="0"/>
              <a:t>. </a:t>
            </a:r>
            <a:r>
              <a:rPr lang="en-US" b="1" u="sng" dirty="0"/>
              <a:t>User Data Protection</a:t>
            </a:r>
            <a:endParaRPr lang="en-US" u="sng" dirty="0"/>
          </a:p>
          <a:p>
            <a:r>
              <a:rPr lang="en-US" b="1" dirty="0"/>
              <a:t>Our dedication to data security transcends technology:</a:t>
            </a:r>
            <a:endParaRPr lang="en-US" dirty="0"/>
          </a:p>
          <a:p>
            <a:r>
              <a:rPr lang="en-US" b="1" dirty="0"/>
              <a:t>Transparent Privacy Policies: Understand how your data is managed through clear privacy policies, putting you in charge via the app's settings.</a:t>
            </a:r>
            <a:endParaRPr lang="en-US" dirty="0"/>
          </a:p>
          <a:p>
            <a:r>
              <a:rPr lang="en-US" b="1" dirty="0"/>
              <a:t>GDPR Compliance: Upholding GDPR guidelines safeguards your data rights and ensures protection.</a:t>
            </a:r>
            <a:endParaRPr lang="en-US" dirty="0"/>
          </a:p>
          <a:p>
            <a:r>
              <a:rPr lang="en-US" b="1" dirty="0"/>
              <a:t>Data Anonymization: User behavior data is anonymized, bolstering your data privacy.</a:t>
            </a:r>
            <a:endParaRPr lang="en-US" dirty="0"/>
          </a:p>
          <a:p>
            <a:endParaRPr lang="en-US" dirty="0"/>
          </a:p>
        </p:txBody>
      </p:sp>
    </p:spTree>
    <p:extLst>
      <p:ext uri="{BB962C8B-B14F-4D97-AF65-F5344CB8AC3E}">
        <p14:creationId xmlns:p14="http://schemas.microsoft.com/office/powerpoint/2010/main" val="2180236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097939" y="354604"/>
            <a:ext cx="1902117" cy="1847248"/>
          </a:xfrm>
          <a:prstGeom prst="rect">
            <a:avLst/>
          </a:prstGeom>
        </p:spPr>
      </p:pic>
      <p:sp>
        <p:nvSpPr>
          <p:cNvPr id="3" name="Content Placeholder 2"/>
          <p:cNvSpPr>
            <a:spLocks noGrp="1"/>
          </p:cNvSpPr>
          <p:nvPr>
            <p:ph idx="1"/>
          </p:nvPr>
        </p:nvSpPr>
        <p:spPr>
          <a:xfrm>
            <a:off x="808148" y="618186"/>
            <a:ext cx="9494951" cy="6104585"/>
          </a:xfrm>
        </p:spPr>
        <p:txBody>
          <a:bodyPr/>
          <a:lstStyle/>
          <a:p>
            <a:pPr marL="0" indent="0">
              <a:buNone/>
            </a:pPr>
            <a:r>
              <a:rPr lang="en-US" b="1" dirty="0"/>
              <a:t> </a:t>
            </a:r>
            <a:r>
              <a:rPr lang="en-US" b="1" dirty="0" smtClean="0"/>
              <a:t>           </a:t>
            </a:r>
            <a:r>
              <a:rPr lang="en-US" b="1" u="sng" dirty="0" smtClean="0"/>
              <a:t>Key </a:t>
            </a:r>
            <a:r>
              <a:rPr lang="en-US" b="1" u="sng" dirty="0"/>
              <a:t>Services Provided by </a:t>
            </a:r>
            <a:r>
              <a:rPr lang="en-US" b="1" u="sng" dirty="0" err="1"/>
              <a:t>Mwarokin</a:t>
            </a:r>
            <a:r>
              <a:rPr lang="en-US" b="1" u="sng" dirty="0"/>
              <a:t> Real Estate App</a:t>
            </a:r>
            <a:endParaRPr lang="en-US" u="sng" dirty="0"/>
          </a:p>
          <a:p>
            <a:r>
              <a:rPr lang="en-US" b="1" dirty="0"/>
              <a:t>The </a:t>
            </a:r>
            <a:r>
              <a:rPr lang="en-US" b="1" dirty="0" err="1"/>
              <a:t>Mwarokin</a:t>
            </a:r>
            <a:r>
              <a:rPr lang="en-US" b="1" dirty="0"/>
              <a:t> Real Estate App offers an extensive array of services, covering every aspect of real estate planning, development, and management</a:t>
            </a:r>
            <a:r>
              <a:rPr lang="en-US" b="1" dirty="0" smtClean="0"/>
              <a:t>:</a:t>
            </a:r>
          </a:p>
          <a:p>
            <a:r>
              <a:rPr lang="en-US" dirty="0" smtClean="0"/>
              <a:t>Working with Clients and Survey Planners online or offline for data recording </a:t>
            </a:r>
          </a:p>
          <a:p>
            <a:r>
              <a:rPr lang="en-US" dirty="0" smtClean="0"/>
              <a:t>Data Sensitive Information </a:t>
            </a:r>
            <a:r>
              <a:rPr lang="en-US" dirty="0" err="1" smtClean="0"/>
              <a:t>eg</a:t>
            </a:r>
            <a:r>
              <a:rPr lang="en-US" dirty="0" smtClean="0"/>
              <a:t>. Personal or Organization </a:t>
            </a:r>
            <a:r>
              <a:rPr lang="en-US" dirty="0"/>
              <a:t> </a:t>
            </a:r>
            <a:r>
              <a:rPr lang="en-US" dirty="0" smtClean="0"/>
              <a:t>KRA, Land or House Location, Survey Data Collected, Title Deeds, ID Numbers, Topography and Land Transfer from owner to owner.</a:t>
            </a:r>
          </a:p>
          <a:p>
            <a:endParaRPr lang="en-US" dirty="0"/>
          </a:p>
          <a:p>
            <a:endParaRPr lang="en-US" dirty="0"/>
          </a:p>
        </p:txBody>
      </p:sp>
    </p:spTree>
    <p:extLst>
      <p:ext uri="{BB962C8B-B14F-4D97-AF65-F5344CB8AC3E}">
        <p14:creationId xmlns:p14="http://schemas.microsoft.com/office/powerpoint/2010/main" val="119499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97228" y="380361"/>
            <a:ext cx="1908213" cy="1847248"/>
          </a:xfrm>
          <a:prstGeom prst="rect">
            <a:avLst/>
          </a:prstGeom>
        </p:spPr>
      </p:pic>
      <p:sp>
        <p:nvSpPr>
          <p:cNvPr id="3" name="Content Placeholder 2"/>
          <p:cNvSpPr>
            <a:spLocks noGrp="1"/>
          </p:cNvSpPr>
          <p:nvPr>
            <p:ph idx="1"/>
          </p:nvPr>
        </p:nvSpPr>
        <p:spPr>
          <a:xfrm>
            <a:off x="795271" y="704022"/>
            <a:ext cx="9057068" cy="5748293"/>
          </a:xfrm>
        </p:spPr>
        <p:txBody>
          <a:bodyPr>
            <a:normAutofit fontScale="92500" lnSpcReduction="20000"/>
          </a:bodyPr>
          <a:lstStyle/>
          <a:p>
            <a:pPr marL="0" indent="0">
              <a:buNone/>
            </a:pPr>
            <a:r>
              <a:rPr lang="en-US" b="1" dirty="0" smtClean="0"/>
              <a:t>                      </a:t>
            </a:r>
            <a:r>
              <a:rPr lang="en-US" b="1" u="sng" dirty="0" smtClean="0"/>
              <a:t>GIS </a:t>
            </a:r>
            <a:r>
              <a:rPr lang="en-US" b="1" u="sng" dirty="0"/>
              <a:t>Mapping</a:t>
            </a:r>
            <a:r>
              <a:rPr lang="en-US" b="1" u="sng" dirty="0" smtClean="0"/>
              <a:t>:</a:t>
            </a:r>
          </a:p>
          <a:p>
            <a:pPr marL="0" indent="0">
              <a:buNone/>
            </a:pPr>
            <a:r>
              <a:rPr lang="en-US" b="1" dirty="0" smtClean="0"/>
              <a:t>Cutting-edge </a:t>
            </a:r>
            <a:r>
              <a:rPr lang="en-US" b="1" dirty="0"/>
              <a:t>Geographic Information System (GIS) mapping delivers accurate and detailed maps, supporting spatial analysis and urban planning.</a:t>
            </a:r>
            <a:endParaRPr lang="en-US" dirty="0"/>
          </a:p>
          <a:p>
            <a:endParaRPr lang="en-US" dirty="0" smtClean="0"/>
          </a:p>
          <a:p>
            <a:pPr marL="0" indent="0">
              <a:buNone/>
            </a:pPr>
            <a:r>
              <a:rPr lang="en-US" b="1" dirty="0" smtClean="0"/>
              <a:t>                     </a:t>
            </a:r>
            <a:r>
              <a:rPr lang="en-US" b="1" u="sng" dirty="0" smtClean="0"/>
              <a:t>Social-Economy </a:t>
            </a:r>
            <a:r>
              <a:rPr lang="en-US" b="1" u="sng" dirty="0"/>
              <a:t>Surveys</a:t>
            </a:r>
            <a:r>
              <a:rPr lang="en-US" b="1" u="sng" dirty="0" smtClean="0"/>
              <a:t>:</a:t>
            </a:r>
          </a:p>
          <a:p>
            <a:pPr marL="0" indent="0">
              <a:buNone/>
            </a:pPr>
            <a:r>
              <a:rPr lang="en-US" b="1" dirty="0" smtClean="0"/>
              <a:t> </a:t>
            </a:r>
            <a:r>
              <a:rPr lang="en-US" b="1" dirty="0"/>
              <a:t>Gain insights into community needs through our comprehensive social-economic surveys, aiding informed decision-making and community engagement.</a:t>
            </a:r>
            <a:endParaRPr lang="en-US" dirty="0"/>
          </a:p>
          <a:p>
            <a:endParaRPr lang="en-US" dirty="0" smtClean="0"/>
          </a:p>
          <a:p>
            <a:pPr marL="0" indent="0">
              <a:buNone/>
            </a:pPr>
            <a:r>
              <a:rPr lang="en-US" b="1" dirty="0" smtClean="0"/>
              <a:t>                          </a:t>
            </a:r>
            <a:r>
              <a:rPr lang="en-US" b="1" u="sng" dirty="0" smtClean="0"/>
              <a:t>Feasibility </a:t>
            </a:r>
            <a:r>
              <a:rPr lang="en-US" b="1" u="sng" dirty="0"/>
              <a:t>Studies: </a:t>
            </a:r>
            <a:endParaRPr lang="en-US" u="sng" dirty="0"/>
          </a:p>
          <a:p>
            <a:pPr marL="0" indent="0">
              <a:buNone/>
            </a:pPr>
            <a:r>
              <a:rPr lang="en-US" b="1" dirty="0"/>
              <a:t>Make informed decisions with comprehensive feasibility studies, gauging project viability and potential outcomes.</a:t>
            </a:r>
            <a:endParaRPr lang="en-US" dirty="0"/>
          </a:p>
          <a:p>
            <a:endParaRPr lang="en-US" dirty="0"/>
          </a:p>
        </p:txBody>
      </p:sp>
    </p:spTree>
    <p:extLst>
      <p:ext uri="{BB962C8B-B14F-4D97-AF65-F5344CB8AC3E}">
        <p14:creationId xmlns:p14="http://schemas.microsoft.com/office/powerpoint/2010/main" val="3243211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5198" y="587677"/>
            <a:ext cx="9422486" cy="5439635"/>
          </a:xfrm>
        </p:spPr>
        <p:txBody>
          <a:bodyPr>
            <a:normAutofit lnSpcReduction="10000"/>
          </a:bodyPr>
          <a:lstStyle/>
          <a:p>
            <a:pPr marL="0" indent="0">
              <a:buNone/>
            </a:pPr>
            <a:r>
              <a:rPr lang="en-US" b="1" dirty="0" smtClean="0"/>
              <a:t>         </a:t>
            </a:r>
            <a:r>
              <a:rPr lang="en-US" b="1" u="sng" dirty="0" smtClean="0"/>
              <a:t>Traffic </a:t>
            </a:r>
            <a:r>
              <a:rPr lang="en-US" b="1" u="sng" dirty="0"/>
              <a:t>Survey: </a:t>
            </a:r>
            <a:endParaRPr lang="en-US" u="sng" dirty="0"/>
          </a:p>
          <a:p>
            <a:pPr marL="0" indent="0">
              <a:buNone/>
            </a:pPr>
            <a:r>
              <a:rPr lang="en-US" b="1" dirty="0"/>
              <a:t>Accurate traffic surveys inform transportation planning and urban mobility strategies</a:t>
            </a:r>
            <a:r>
              <a:rPr lang="en-US" b="1" dirty="0" smtClean="0"/>
              <a:t>.</a:t>
            </a:r>
          </a:p>
          <a:p>
            <a:endParaRPr lang="en-US" dirty="0"/>
          </a:p>
          <a:p>
            <a:pPr marL="0" indent="0">
              <a:buNone/>
            </a:pPr>
            <a:r>
              <a:rPr lang="en-US" b="1" dirty="0" smtClean="0"/>
              <a:t>         </a:t>
            </a:r>
            <a:r>
              <a:rPr lang="en-US" b="1" u="sng" dirty="0" smtClean="0"/>
              <a:t>Environmental </a:t>
            </a:r>
            <a:r>
              <a:rPr lang="en-US" b="1" u="sng" dirty="0"/>
              <a:t>Planning and Management</a:t>
            </a:r>
            <a:r>
              <a:rPr lang="en-US" b="1" u="sng" dirty="0" smtClean="0"/>
              <a:t>:</a:t>
            </a:r>
            <a:endParaRPr lang="en-US" u="sng" dirty="0"/>
          </a:p>
          <a:p>
            <a:pPr marL="0" indent="0">
              <a:buNone/>
            </a:pPr>
            <a:r>
              <a:rPr lang="en-US" b="1" dirty="0" smtClean="0"/>
              <a:t>Embrace </a:t>
            </a:r>
            <a:r>
              <a:rPr lang="en-US" b="1" dirty="0"/>
              <a:t>sustainability with our tools for effective environmental planning and management</a:t>
            </a:r>
            <a:r>
              <a:rPr lang="en-US" b="1" dirty="0" smtClean="0"/>
              <a:t>.</a:t>
            </a:r>
          </a:p>
          <a:p>
            <a:endParaRPr lang="en-US" dirty="0"/>
          </a:p>
          <a:p>
            <a:pPr marL="0" indent="0">
              <a:buNone/>
            </a:pPr>
            <a:r>
              <a:rPr lang="en-US" b="1" dirty="0" smtClean="0"/>
              <a:t>          </a:t>
            </a:r>
            <a:r>
              <a:rPr lang="en-US" b="1" u="sng" dirty="0" smtClean="0"/>
              <a:t>Short-Term </a:t>
            </a:r>
            <a:r>
              <a:rPr lang="en-US" b="1" u="sng" dirty="0"/>
              <a:t>Planning and Development Control: </a:t>
            </a:r>
            <a:endParaRPr lang="en-US" u="sng" dirty="0"/>
          </a:p>
          <a:p>
            <a:pPr marL="0" indent="0">
              <a:buNone/>
            </a:pPr>
            <a:r>
              <a:rPr lang="en-US" b="1" dirty="0"/>
              <a:t>Efficiently manage projects with tools for short-term planning and development control.</a:t>
            </a:r>
            <a:endParaRPr lang="en-US" dirty="0"/>
          </a:p>
          <a:p>
            <a:endParaRPr lang="en-US" dirty="0"/>
          </a:p>
        </p:txBody>
      </p:sp>
      <p:pic>
        <p:nvPicPr>
          <p:cNvPr id="4" name="Picture 3"/>
          <p:cNvPicPr>
            <a:picLocks noChangeAspect="1"/>
          </p:cNvPicPr>
          <p:nvPr/>
        </p:nvPicPr>
        <p:blipFill>
          <a:blip r:embed="rId2"/>
          <a:stretch>
            <a:fillRect/>
          </a:stretch>
        </p:blipFill>
        <p:spPr>
          <a:xfrm>
            <a:off x="10048743" y="406119"/>
            <a:ext cx="1908213" cy="1847248"/>
          </a:xfrm>
          <a:prstGeom prst="rect">
            <a:avLst/>
          </a:prstGeom>
        </p:spPr>
      </p:pic>
    </p:spTree>
    <p:extLst>
      <p:ext uri="{BB962C8B-B14F-4D97-AF65-F5344CB8AC3E}">
        <p14:creationId xmlns:p14="http://schemas.microsoft.com/office/powerpoint/2010/main" val="1186877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0651" y="328386"/>
            <a:ext cx="9651084" cy="6252717"/>
          </a:xfrm>
        </p:spPr>
        <p:txBody>
          <a:bodyPr>
            <a:normAutofit/>
          </a:bodyPr>
          <a:lstStyle/>
          <a:p>
            <a:pPr marL="0" indent="0">
              <a:buNone/>
            </a:pPr>
            <a:r>
              <a:rPr lang="en-US" b="1" dirty="0" smtClean="0"/>
              <a:t>                    </a:t>
            </a:r>
            <a:r>
              <a:rPr lang="en-US" b="1" u="sng" dirty="0" smtClean="0"/>
              <a:t>Informal </a:t>
            </a:r>
            <a:r>
              <a:rPr lang="en-US" b="1" u="sng" dirty="0"/>
              <a:t>Settlements Upgrading Services: </a:t>
            </a:r>
            <a:endParaRPr lang="en-US" b="1" u="sng" dirty="0" smtClean="0"/>
          </a:p>
          <a:p>
            <a:pPr marL="0" indent="0">
              <a:buNone/>
            </a:pPr>
            <a:r>
              <a:rPr lang="en-US" b="1" dirty="0" smtClean="0"/>
              <a:t>Contribute </a:t>
            </a:r>
            <a:r>
              <a:rPr lang="en-US" b="1" dirty="0"/>
              <a:t>to marginalized communities' well-being through our initiatives in informal settlements.</a:t>
            </a:r>
            <a:endParaRPr lang="en-US" dirty="0"/>
          </a:p>
          <a:p>
            <a:pPr marL="0" indent="0">
              <a:buNone/>
            </a:pPr>
            <a:r>
              <a:rPr lang="en-US" b="1" dirty="0" smtClean="0"/>
              <a:t>               </a:t>
            </a:r>
            <a:r>
              <a:rPr lang="en-US" b="1" u="sng" dirty="0" smtClean="0"/>
              <a:t>Sectional </a:t>
            </a:r>
            <a:r>
              <a:rPr lang="en-US" b="1" u="sng" dirty="0"/>
              <a:t>Property Survey and Title Registration: </a:t>
            </a:r>
            <a:endParaRPr lang="en-US" u="sng" dirty="0"/>
          </a:p>
          <a:p>
            <a:pPr marL="0" indent="0">
              <a:buNone/>
            </a:pPr>
            <a:r>
              <a:rPr lang="en-US" b="1" dirty="0" smtClean="0"/>
              <a:t>Simplify </a:t>
            </a:r>
            <a:r>
              <a:rPr lang="en-US" b="1" dirty="0"/>
              <a:t>sectional property surveying and secure title registration, ensuring legal compliance.</a:t>
            </a:r>
            <a:endParaRPr lang="en-US" dirty="0"/>
          </a:p>
          <a:p>
            <a:pPr marL="0" indent="0">
              <a:buNone/>
            </a:pPr>
            <a:r>
              <a:rPr lang="en-US" b="1" dirty="0" smtClean="0"/>
              <a:t>                         </a:t>
            </a:r>
            <a:r>
              <a:rPr lang="en-US" b="1" u="sng" dirty="0" smtClean="0"/>
              <a:t>Land </a:t>
            </a:r>
            <a:r>
              <a:rPr lang="en-US" b="1" u="sng" dirty="0"/>
              <a:t>Surveying and Titles</a:t>
            </a:r>
            <a:r>
              <a:rPr lang="en-US" b="1" u="sng" dirty="0" smtClean="0"/>
              <a:t>:</a:t>
            </a:r>
          </a:p>
          <a:p>
            <a:pPr marL="0" indent="0">
              <a:buNone/>
            </a:pPr>
            <a:r>
              <a:rPr lang="en-US" b="1" dirty="0" smtClean="0"/>
              <a:t>Guarantee </a:t>
            </a:r>
            <a:r>
              <a:rPr lang="en-US" b="1" dirty="0"/>
              <a:t>accurate land surveying and secure title registration through our reliable services.</a:t>
            </a:r>
            <a:endParaRPr lang="en-US" dirty="0"/>
          </a:p>
          <a:p>
            <a:pPr marL="0" indent="0">
              <a:buNone/>
            </a:pPr>
            <a:r>
              <a:rPr lang="en-US" b="1" dirty="0" smtClean="0"/>
              <a:t>                        </a:t>
            </a:r>
            <a:r>
              <a:rPr lang="en-US" b="1" u="sng" dirty="0" smtClean="0"/>
              <a:t>Physical/Land </a:t>
            </a:r>
            <a:r>
              <a:rPr lang="en-US" b="1" u="sng" dirty="0"/>
              <a:t>Use/Urban Planning</a:t>
            </a:r>
            <a:r>
              <a:rPr lang="en-US" b="1" u="sng" dirty="0" smtClean="0"/>
              <a:t>:</a:t>
            </a:r>
          </a:p>
          <a:p>
            <a:pPr marL="0" indent="0">
              <a:buNone/>
            </a:pPr>
            <a:r>
              <a:rPr lang="en-US" b="1" dirty="0" smtClean="0"/>
              <a:t> </a:t>
            </a:r>
            <a:r>
              <a:rPr lang="en-US" b="1" dirty="0"/>
              <a:t>Seamlessly integrate planning elements for comprehensive strategies.</a:t>
            </a:r>
            <a:endParaRPr lang="en-US" dirty="0"/>
          </a:p>
          <a:p>
            <a:endParaRPr lang="en-US" dirty="0"/>
          </a:p>
        </p:txBody>
      </p:sp>
      <p:pic>
        <p:nvPicPr>
          <p:cNvPr id="4" name="Picture 3"/>
          <p:cNvPicPr>
            <a:picLocks noChangeAspect="1"/>
          </p:cNvPicPr>
          <p:nvPr/>
        </p:nvPicPr>
        <p:blipFill>
          <a:blip r:embed="rId2"/>
          <a:stretch>
            <a:fillRect/>
          </a:stretch>
        </p:blipFill>
        <p:spPr>
          <a:xfrm>
            <a:off x="9977394" y="418999"/>
            <a:ext cx="1908213" cy="1847248"/>
          </a:xfrm>
          <a:prstGeom prst="rect">
            <a:avLst/>
          </a:prstGeom>
        </p:spPr>
      </p:pic>
    </p:spTree>
    <p:extLst>
      <p:ext uri="{BB962C8B-B14F-4D97-AF65-F5344CB8AC3E}">
        <p14:creationId xmlns:p14="http://schemas.microsoft.com/office/powerpoint/2010/main" val="165749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9290" y="201745"/>
            <a:ext cx="9548052" cy="6083143"/>
          </a:xfrm>
        </p:spPr>
        <p:txBody>
          <a:bodyPr>
            <a:normAutofit/>
          </a:bodyPr>
          <a:lstStyle/>
          <a:p>
            <a:pPr marL="0" indent="0">
              <a:buNone/>
            </a:pPr>
            <a:r>
              <a:rPr lang="en-US" b="1" dirty="0" smtClean="0"/>
              <a:t>                                        </a:t>
            </a:r>
            <a:r>
              <a:rPr lang="en-US" b="1" u="sng" dirty="0" err="1" smtClean="0"/>
              <a:t>Mwarokin</a:t>
            </a:r>
            <a:r>
              <a:rPr lang="en-US" b="1" u="sng" dirty="0" smtClean="0"/>
              <a:t> </a:t>
            </a:r>
            <a:r>
              <a:rPr lang="en-US" b="1" u="sng" dirty="0"/>
              <a:t>Conclusion</a:t>
            </a:r>
            <a:endParaRPr lang="en-US" u="sng" dirty="0"/>
          </a:p>
          <a:p>
            <a:r>
              <a:rPr lang="en-US" b="1" dirty="0"/>
              <a:t> </a:t>
            </a:r>
            <a:endParaRPr lang="en-US" dirty="0"/>
          </a:p>
          <a:p>
            <a:r>
              <a:rPr lang="en-US" b="1" dirty="0"/>
              <a:t>The </a:t>
            </a:r>
            <a:r>
              <a:rPr lang="en-US" b="1" dirty="0" err="1"/>
              <a:t>Mwarokin</a:t>
            </a:r>
            <a:r>
              <a:rPr lang="en-US" b="1" dirty="0"/>
              <a:t> Real Estate App transcends a mere digital platform, offering a holistic solution to empower you within the dynamic real estate sector. Our dedication to precision, innovation, and sustainability guarantees not just project </a:t>
            </a:r>
            <a:r>
              <a:rPr lang="en-US" b="1" dirty="0" smtClean="0"/>
              <a:t>success.</a:t>
            </a:r>
          </a:p>
          <a:p>
            <a:r>
              <a:rPr lang="en-US" b="1" dirty="0"/>
              <a:t>P</a:t>
            </a:r>
            <a:r>
              <a:rPr lang="en-US" b="1" dirty="0" smtClean="0"/>
              <a:t>ositive </a:t>
            </a:r>
            <a:r>
              <a:rPr lang="en-US" b="1" dirty="0"/>
              <a:t>contributions to the communities involved. As you navigate the complexities of real estate, we're here to support you every step of the way</a:t>
            </a:r>
            <a:r>
              <a:rPr lang="en-US" b="1" dirty="0" smtClean="0"/>
              <a:t>.</a:t>
            </a:r>
          </a:p>
          <a:p>
            <a:r>
              <a:rPr lang="en-US" b="1" dirty="0" smtClean="0"/>
              <a:t> </a:t>
            </a:r>
            <a:r>
              <a:rPr lang="en-US" b="1" dirty="0" err="1"/>
              <a:t>Mwarokin</a:t>
            </a:r>
            <a:r>
              <a:rPr lang="en-US" b="1" dirty="0"/>
              <a:t> Real Estate App's extensive services and features are tailored to meet your diverse requirements, equipping you to make informed decisions and steer successful projects forward</a:t>
            </a:r>
            <a:r>
              <a:rPr lang="en-US" b="1" dirty="0" smtClean="0"/>
              <a:t>.</a:t>
            </a:r>
            <a:endParaRPr lang="en-US" dirty="0"/>
          </a:p>
          <a:p>
            <a:endParaRPr lang="en-US" dirty="0"/>
          </a:p>
        </p:txBody>
      </p:sp>
      <p:pic>
        <p:nvPicPr>
          <p:cNvPr id="4" name="Picture 3"/>
          <p:cNvPicPr>
            <a:picLocks noChangeAspect="1"/>
          </p:cNvPicPr>
          <p:nvPr/>
        </p:nvPicPr>
        <p:blipFill>
          <a:blip r:embed="rId2"/>
          <a:stretch>
            <a:fillRect/>
          </a:stretch>
        </p:blipFill>
        <p:spPr>
          <a:xfrm>
            <a:off x="10048744" y="380362"/>
            <a:ext cx="1908213" cy="1847248"/>
          </a:xfrm>
          <a:prstGeom prst="rect">
            <a:avLst/>
          </a:prstGeom>
        </p:spPr>
      </p:pic>
    </p:spTree>
    <p:extLst>
      <p:ext uri="{BB962C8B-B14F-4D97-AF65-F5344CB8AC3E}">
        <p14:creationId xmlns:p14="http://schemas.microsoft.com/office/powerpoint/2010/main" val="1598832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45713" y="328846"/>
            <a:ext cx="1908213" cy="1847248"/>
          </a:xfrm>
          <a:prstGeom prst="rect">
            <a:avLst/>
          </a:prstGeom>
        </p:spPr>
      </p:pic>
      <p:sp>
        <p:nvSpPr>
          <p:cNvPr id="3" name="Content Placeholder 2"/>
          <p:cNvSpPr>
            <a:spLocks noGrp="1"/>
          </p:cNvSpPr>
          <p:nvPr>
            <p:ph idx="1"/>
          </p:nvPr>
        </p:nvSpPr>
        <p:spPr>
          <a:xfrm>
            <a:off x="767924" y="1252470"/>
            <a:ext cx="9435366" cy="5361927"/>
          </a:xfrm>
        </p:spPr>
        <p:txBody>
          <a:bodyPr>
            <a:normAutofit/>
          </a:bodyPr>
          <a:lstStyle/>
          <a:p>
            <a:r>
              <a:rPr lang="en-US" b="1" dirty="0"/>
              <a:t>We extend our gratitude for considering </a:t>
            </a:r>
            <a:r>
              <a:rPr lang="en-US" b="1" dirty="0" err="1"/>
              <a:t>Mwarokin</a:t>
            </a:r>
            <a:r>
              <a:rPr lang="en-US" b="1" dirty="0"/>
              <a:t> Real Estate App as your trusted ally. For any inquiries or discussions, please feel free to reach out. We eagerly await the opportunity to collaborate with you.</a:t>
            </a:r>
            <a:endParaRPr lang="en-US" dirty="0"/>
          </a:p>
          <a:p>
            <a:pPr marL="0" indent="0">
              <a:buNone/>
            </a:pPr>
            <a:endParaRPr lang="en-US" dirty="0"/>
          </a:p>
          <a:p>
            <a:pPr marL="0" indent="0">
              <a:buNone/>
            </a:pPr>
            <a:r>
              <a:rPr lang="en-US" b="1" dirty="0"/>
              <a:t>Sincerely,</a:t>
            </a:r>
            <a:endParaRPr lang="en-US" dirty="0"/>
          </a:p>
          <a:p>
            <a:pPr marL="0" indent="0">
              <a:buNone/>
            </a:pPr>
            <a:r>
              <a:rPr lang="en-US" b="1" dirty="0" err="1" smtClean="0"/>
              <a:t>Mwarokin</a:t>
            </a:r>
            <a:r>
              <a:rPr lang="en-US" b="1" dirty="0" smtClean="0"/>
              <a:t> </a:t>
            </a:r>
            <a:r>
              <a:rPr lang="en-US" b="1" dirty="0"/>
              <a:t>Real Estate </a:t>
            </a:r>
            <a:r>
              <a:rPr lang="en-US" b="1" dirty="0" smtClean="0"/>
              <a:t>App</a:t>
            </a:r>
          </a:p>
          <a:p>
            <a:pPr marL="0" indent="0">
              <a:buNone/>
            </a:pPr>
            <a:r>
              <a:rPr lang="en-US" b="1" dirty="0">
                <a:latin typeface="Arial Narrow" panose="020B0606020202030204" pitchFamily="34" charset="0"/>
                <a:ea typeface="Cambria" panose="02040503050406030204" pitchFamily="18" charset="0"/>
              </a:rPr>
              <a:t>Presented by: Robin </a:t>
            </a:r>
            <a:r>
              <a:rPr lang="en-US" b="1" dirty="0" err="1" smtClean="0">
                <a:latin typeface="Arial Narrow" panose="020B0606020202030204" pitchFamily="34" charset="0"/>
                <a:ea typeface="Cambria" panose="02040503050406030204" pitchFamily="18" charset="0"/>
              </a:rPr>
              <a:t>Mwarema</a:t>
            </a:r>
            <a:endParaRPr lang="en-US" b="1" dirty="0" smtClean="0">
              <a:latin typeface="Arial Narrow" panose="020B0606020202030204" pitchFamily="34" charset="0"/>
              <a:ea typeface="Cambria" panose="02040503050406030204" pitchFamily="18" charset="0"/>
            </a:endParaRPr>
          </a:p>
          <a:p>
            <a:pPr marL="0" indent="0">
              <a:buNone/>
            </a:pPr>
            <a:r>
              <a:rPr lang="en-US" b="1" dirty="0" smtClean="0">
                <a:latin typeface="Arial Narrow" panose="020B0606020202030204" pitchFamily="34" charset="0"/>
                <a:ea typeface="Cambria" panose="02040503050406030204" pitchFamily="18" charset="0"/>
              </a:rPr>
              <a:t>Founder and CEO</a:t>
            </a:r>
          </a:p>
          <a:p>
            <a:pPr marL="0" indent="0">
              <a:buNone/>
            </a:pPr>
            <a:r>
              <a:rPr lang="en-US" b="1" dirty="0" smtClean="0">
                <a:latin typeface="Arial Narrow" panose="020B0606020202030204" pitchFamily="34" charset="0"/>
                <a:ea typeface="Cambria" panose="02040503050406030204" pitchFamily="18" charset="0"/>
              </a:rPr>
              <a:t>Syllogism Technology.</a:t>
            </a:r>
            <a:endParaRPr lang="en-US" dirty="0"/>
          </a:p>
          <a:p>
            <a:endParaRPr lang="en-US" dirty="0"/>
          </a:p>
        </p:txBody>
      </p:sp>
    </p:spTree>
    <p:extLst>
      <p:ext uri="{BB962C8B-B14F-4D97-AF65-F5344CB8AC3E}">
        <p14:creationId xmlns:p14="http://schemas.microsoft.com/office/powerpoint/2010/main" val="13153832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274</TotalTime>
  <Words>658</Words>
  <Application>Microsoft Office PowerPoint</Application>
  <PresentationFormat>Widescreen</PresentationFormat>
  <Paragraphs>68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Narrow</vt:lpstr>
      <vt:lpstr>Cambria</vt:lpstr>
      <vt:lpstr>Garamond</vt:lpstr>
      <vt:lpstr>Trebuchet MS</vt:lpstr>
      <vt:lpstr>Tw Cen MT</vt:lpstr>
      <vt:lpstr>Circuit</vt:lpstr>
      <vt:lpstr>Presentation  to the Client: EGSLIMITED   Mwarokin Real Estate App.  Your Trusted  Partner for Comprehensive Real Estate Solutions;  Date: 8th August 2023   Happy 8/8/2023   In a world where real estate dynamics are evolving rapidly, we are thrilled to introduce you to the Mwarokin Real Estate App, your ultimate solution for seamless land survey, renting, leasing, and beyond.   This presentation sheds light on how our app is poised to transform your real estate experience by blending innovative technology with data security measures that ensure your peace of mind. </vt:lpstr>
      <vt:lpstr>PowerPoint Presentation</vt:lpstr>
      <vt:lpstr>          MWAROKIN k.p.i Automation :  Physical and/or Land use  planning  Land surveying and mapping  Sectional property survey services  Informal settlements upgrading services  Due diligence on properties  Environmental Planning and Management  Socio-economic surveys &amp; Feasibility studies  Geographic information systems  Resettlement and social safeguards services Traffic surveys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to the Client: Mwarokin Real Estate App - Your Trusted Partner for Land Survey, Renting, and Leasing Date: [Current Date] Presented by: [Your Name] Good [Morning/Afternoon], I hope this message finds you well. Today, I am excited to introduce you to a groundbreaking solution that is poised to reshape the way you experience real estate transactions â€“ the Mwarokin Real Estate App. In this presentation, we'll delve into the key features and benefits of our app, with a special focus on our advanced data security measures that ensure your information is handled with the utmost care and protection. 1. Executive Summary In an era where convenience, accuracy, and security are paramount, Mwarokin Real Estate App shines as a premier solution for individuals and companies seeking top-notch land survey, renting, and leasing services. This report underscores our commitment to innovation, user-centric design, and robust data security. Our cutting-edge technology and dedication to protecting your data make us your ideal partner for navigating the digital landscape of real estate transactions. 2. Introduction Mwarokin Real Estate App represents a paradigm shift in the real estate industry. Our comprehensive platform simplifies property-related transactions, empowering you with informed choices. Our defining feature? A resolute focus on data security, ensuring your sensitive information remains safe and confidential. 3. Technological Innovation Our app harnesses state-of-the-art technology to redefine user experiences: Interactive Land Survey: Leverage augmented reality and geolocation to perform virtual land surveys, saving time and resources while boosting accuracy. Property Listings: Our extensive property database offers 3D virtual tours, high-res images, and in-depth information, revolutionizing the property exploration process. User-Friendly Interface: Whether tech-savvy or not, our app's intuitive design ensures a seamless experience for all users. 4. Data Security Measures Your data security is our paramount concern, evident through our meti</dc:title>
  <dc:creator>Mr. R</dc:creator>
  <cp:lastModifiedBy>Mr. R</cp:lastModifiedBy>
  <cp:revision>24</cp:revision>
  <dcterms:created xsi:type="dcterms:W3CDTF">2023-08-06T12:59:13Z</dcterms:created>
  <dcterms:modified xsi:type="dcterms:W3CDTF">2023-08-07T09:40:53Z</dcterms:modified>
</cp:coreProperties>
</file>